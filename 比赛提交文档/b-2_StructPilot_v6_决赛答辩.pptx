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62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27432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5116068"/>
            <a:ext cx="9034272" cy="27432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058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kern="0" spc="100" dirty="0">
                <a:solidFill>
                  <a:srgbClr val="9E2A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Intelligent Navigation Assistant for Cryo-EM SPA Pipeline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7A1D2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StructPilot v6.0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kern="0" spc="300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冷冻电镜数据处理智能陪跑助手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1645920" cy="18288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175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5A151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决赛答辩演示</a:t>
            </a:r>
            <a:endParaRPr lang="en-US" sz="1600" dirty="0"/>
          </a:p>
        </p:txBody>
      </p:sp>
      <p:pic>
        <p:nvPicPr>
          <p:cNvPr id="10" name="Image 0" descr="D:\sh-tech\2026-03-01\windsurf_task1_cryoFIB_liftout_auto\final_struct\assets\logo_ihuman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914400" y="4277995"/>
            <a:ext cx="1080135" cy="259080"/>
          </a:xfrm>
          <a:prstGeom prst="rect">
            <a:avLst/>
          </a:prstGeom>
        </p:spPr>
      </p:pic>
      <p:pic>
        <p:nvPicPr>
          <p:cNvPr id="11" name="Image 1" descr="D:\sh-tech\2026-03-01\windsurf_task1_cryoFIB_liftout_auto\final_struct\assets\logo_shanghaitech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923290" y="3913505"/>
            <a:ext cx="1080000" cy="360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40280" y="397764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上海科技大学  iHuman 研究所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240280" y="425196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2026 年 7 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E2A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目录  AGENDA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答辩内容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24128"/>
            <a:ext cx="731520" cy="2286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grpSp>
        <p:nvGrpSpPr>
          <p:cNvPr id="33" name="组合 32"/>
          <p:cNvGrpSpPr/>
          <p:nvPr/>
        </p:nvGrpSpPr>
        <p:grpSpPr>
          <a:xfrm>
            <a:off x="640080" y="1097280"/>
            <a:ext cx="7957185" cy="2952750"/>
            <a:chOff x="1008" y="1728"/>
            <a:chExt cx="12384" cy="3110"/>
          </a:xfrm>
        </p:grpSpPr>
        <p:sp>
          <p:nvSpPr>
            <p:cNvPr id="6" name="Text 4"/>
            <p:cNvSpPr/>
            <p:nvPr/>
          </p:nvSpPr>
          <p:spPr>
            <a:xfrm>
              <a:off x="1008" y="1728"/>
              <a:ext cx="1008" cy="86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7A1D24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</a:rPr>
                <a:t>01</a:t>
              </a:r>
              <a:endParaRPr lang="en-US" sz="2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2088" y="1800"/>
              <a:ext cx="4680" cy="4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C2C2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34" charset="-120"/>
                </a:rPr>
                <a:t>作品背景与定位</a:t>
              </a:r>
              <a:endParaRPr lang="en-US" sz="1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088" y="2189"/>
              <a:ext cx="4680" cy="36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888888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34" charset="-120"/>
                </a:rPr>
                <a:t>冷冻电镜数据处理痛点与产品定位</a:t>
              </a:r>
              <a:endParaRPr lang="en-US" sz="9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1800" y="2117"/>
              <a:ext cx="86" cy="86"/>
            </a:xfrm>
            <a:prstGeom prst="ellipse">
              <a:avLst/>
            </a:prstGeom>
            <a:solidFill>
              <a:srgbClr val="9E2A32"/>
            </a:solidFill>
            <a:ln w="12700">
              <a:solidFill>
                <a:srgbClr val="9E2A32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7632" y="1728"/>
              <a:ext cx="1008" cy="86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7A1D24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</a:rPr>
                <a:t>02</a:t>
              </a:r>
              <a:endParaRPr lang="en-US" sz="2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8712" y="1800"/>
              <a:ext cx="4680" cy="4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C2C2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34" charset="-120"/>
                </a:rPr>
                <a:t>技术架构与实现</a:t>
              </a:r>
              <a:endParaRPr lang="en-US" sz="1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8712" y="2189"/>
              <a:ext cx="4680" cy="36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888888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34" charset="-120"/>
                </a:rPr>
                <a:t>五层架构 · 多智能体 · 知识库体系</a:t>
              </a:r>
              <a:endParaRPr lang="en-US" sz="9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8424" y="2117"/>
              <a:ext cx="86" cy="86"/>
            </a:xfrm>
            <a:prstGeom prst="ellipse">
              <a:avLst/>
            </a:prstGeom>
            <a:solidFill>
              <a:srgbClr val="9E2A32"/>
            </a:solidFill>
            <a:ln w="12700">
              <a:solidFill>
                <a:srgbClr val="9E2A32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1008" y="2851"/>
              <a:ext cx="1008" cy="86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7A1D24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</a:rPr>
                <a:t>03</a:t>
              </a:r>
              <a:endParaRPr lang="en-US" sz="2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088" y="2923"/>
              <a:ext cx="4680" cy="4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C2C2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34" charset="-120"/>
                </a:rPr>
                <a:t>功能模块与演示</a:t>
              </a:r>
              <a:endParaRPr lang="en-US" sz="14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088" y="3312"/>
              <a:ext cx="4680" cy="36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888888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34" charset="-120"/>
                </a:rPr>
                <a:t>三模式交互 · 核心功能 · v6.0 优化</a:t>
              </a:r>
              <a:endParaRPr lang="en-US" sz="9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1800" y="3240"/>
              <a:ext cx="86" cy="86"/>
            </a:xfrm>
            <a:prstGeom prst="ellipse">
              <a:avLst/>
            </a:prstGeom>
            <a:solidFill>
              <a:srgbClr val="9E2A32"/>
            </a:solidFill>
            <a:ln w="12700">
              <a:solidFill>
                <a:srgbClr val="9E2A32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7632" y="2851"/>
              <a:ext cx="1008" cy="86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7A1D24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</a:rPr>
                <a:t>04</a:t>
              </a:r>
              <a:endParaRPr lang="en-US" sz="2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8712" y="2923"/>
              <a:ext cx="4680" cy="4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C2C2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34" charset="-120"/>
                </a:rPr>
                <a:t>应用案例与场景</a:t>
              </a:r>
              <a:endParaRPr lang="en-US" sz="14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8712" y="3312"/>
              <a:ext cx="4680" cy="36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888888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34" charset="-120"/>
                </a:rPr>
                <a:t>科研 · 教学 · 产业落地</a:t>
              </a:r>
              <a:endParaRPr lang="en-US" sz="9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8424" y="3240"/>
              <a:ext cx="86" cy="86"/>
            </a:xfrm>
            <a:prstGeom prst="ellipse">
              <a:avLst/>
            </a:prstGeom>
            <a:solidFill>
              <a:srgbClr val="9E2A32"/>
            </a:solidFill>
            <a:ln w="12700">
              <a:solidFill>
                <a:srgbClr val="9E2A32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1008" y="3974"/>
              <a:ext cx="1008" cy="86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7A1D24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</a:rPr>
                <a:t>05</a:t>
              </a:r>
              <a:endParaRPr lang="en-US" sz="2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088" y="4046"/>
              <a:ext cx="4680" cy="4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C2C2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34" charset="-120"/>
                </a:rPr>
                <a:t>创新性与独特视角</a:t>
              </a:r>
              <a:endParaRPr lang="en-US" sz="14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2088" y="4435"/>
              <a:ext cx="4680" cy="36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888888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34" charset="-120"/>
                </a:rPr>
                <a:t>五大创新点 · 差异化优势</a:t>
              </a:r>
              <a:endParaRPr lang="en-US" sz="9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1800" y="4363"/>
              <a:ext cx="86" cy="86"/>
            </a:xfrm>
            <a:prstGeom prst="ellipse">
              <a:avLst/>
            </a:prstGeom>
            <a:solidFill>
              <a:srgbClr val="9E2A32"/>
            </a:solidFill>
            <a:ln w="12700">
              <a:solidFill>
                <a:srgbClr val="9E2A32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7632" y="3974"/>
              <a:ext cx="1008" cy="86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7A1D24"/>
                  </a:solidFill>
                  <a:latin typeface="Georgia" panose="02040502050405020303" pitchFamily="34" charset="0"/>
                  <a:ea typeface="Georgia" panose="02040502050405020303" pitchFamily="34" charset="-122"/>
                  <a:cs typeface="Georgia" panose="02040502050405020303" pitchFamily="34" charset="-120"/>
                </a:rPr>
                <a:t>06</a:t>
              </a:r>
              <a:endParaRPr lang="en-US" sz="24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8712" y="4046"/>
              <a:ext cx="4680" cy="4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C2C2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34" charset="-120"/>
                </a:rPr>
                <a:t>建议与展望</a:t>
              </a:r>
              <a:endParaRPr lang="en-US" sz="14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8712" y="4435"/>
              <a:ext cx="4680" cy="36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888888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34" charset="-120"/>
                </a:rPr>
                <a:t>短中长期规划</a:t>
              </a:r>
              <a:endParaRPr lang="en-US" sz="95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8424" y="4363"/>
              <a:ext cx="86" cy="86"/>
            </a:xfrm>
            <a:prstGeom prst="ellipse">
              <a:avLst/>
            </a:prstGeom>
            <a:solidFill>
              <a:srgbClr val="9E2A32"/>
            </a:solidFill>
            <a:ln w="12700">
              <a:solidFill>
                <a:srgbClr val="9E2A32"/>
              </a:solidFill>
              <a:prstDash val="solid"/>
            </a:ln>
          </p:spPr>
        </p:sp>
      </p:grpSp>
      <p:sp>
        <p:nvSpPr>
          <p:cNvPr id="30" name="Shape 28"/>
          <p:cNvSpPr/>
          <p:nvPr/>
        </p:nvSpPr>
        <p:spPr>
          <a:xfrm>
            <a:off x="640080" y="4732020"/>
            <a:ext cx="7863840" cy="9144"/>
          </a:xfrm>
          <a:prstGeom prst="rect">
            <a:avLst/>
          </a:prstGeom>
          <a:solidFill>
            <a:srgbClr val="D9D5CE"/>
          </a:solidFill>
          <a:ln w="12700">
            <a:solidFill>
              <a:srgbClr val="D9D5C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7777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StructPilot v6.0 · 冷冻电镜数据处理智能陪跑助手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589520" y="47777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 / 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E2A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01  作品背景与定位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冷冻电镜数据处理的三大挑战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24128"/>
            <a:ext cx="731520" cy="2286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25146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97280"/>
            <a:ext cx="2514600" cy="36576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32588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1D2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流程复杂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240280"/>
            <a:ext cx="365760" cy="13716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23160"/>
            <a:ext cx="2057400" cy="4389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从原始数据到 3D 结构需 12+ 步骤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2898648"/>
            <a:ext cx="2057400" cy="4389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每步含大量参数需设置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3374136"/>
            <a:ext cx="2057400" cy="4389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新手易迷失方向、漏步误操作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3849624"/>
            <a:ext cx="2057400" cy="4389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依赖经验，学习曲线陡峭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29000" y="1097280"/>
            <a:ext cx="25146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1097280"/>
            <a:ext cx="2514600" cy="36576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132588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1D2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657600" y="1874520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参数难调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0" y="2240280"/>
            <a:ext cx="365760" cy="13716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2423160"/>
            <a:ext cx="2057400" cy="4389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参数取值高度依赖实验经验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0" y="2898648"/>
            <a:ext cx="2057400" cy="4389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错误设置导致结果失败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0" y="3374136"/>
            <a:ext cx="2057400" cy="4389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试错成本高（数小时～数天）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0" y="3849624"/>
            <a:ext cx="2057400" cy="4389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缺乏可落地的推荐依据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1097280"/>
            <a:ext cx="25146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097280"/>
            <a:ext cx="2514600" cy="36576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32588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1D2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446520" y="1874520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知识分散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46520" y="2240280"/>
            <a:ext cx="365760" cy="13716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2423160"/>
            <a:ext cx="2057400" cy="4389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文档零散于官网 / 论坛 / 论文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46520" y="2898648"/>
            <a:ext cx="2057400" cy="4389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实验室经验难以结构化沉淀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46520" y="3374136"/>
            <a:ext cx="2057400" cy="4389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故障排查依赖"老师傅"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46520" y="3849624"/>
            <a:ext cx="2057400" cy="4389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人员流动导致经验流失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4732020"/>
            <a:ext cx="7863840" cy="9144"/>
          </a:xfrm>
          <a:prstGeom prst="rect">
            <a:avLst/>
          </a:prstGeom>
          <a:solidFill>
            <a:srgbClr val="D9D5CE"/>
          </a:solidFill>
          <a:ln w="12700">
            <a:solidFill>
              <a:srgbClr val="D9D5C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7777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StructPilot v6.0 · 冷冻电镜数据处理智能陪跑助手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589520" y="47777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 / 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E2A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01  作品背景与定位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我们的方案：StructPilot = 流程教练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24128"/>
            <a:ext cx="731520" cy="2286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51560"/>
            <a:ext cx="7863840" cy="77724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15568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核心理念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389888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不替代 cryoSPARC / RELION 等专业计算软件，而是作为流程教练，在每个阶段提供操作指引、参数建议、质控提醒与故障诊断。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4068" y="2194560"/>
            <a:ext cx="18288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4068" y="2194560"/>
            <a:ext cx="36576" cy="192024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6948" y="23774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6948" y="278892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流程导航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6948" y="3154680"/>
            <a:ext cx="320040" cy="13716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" y="3246120"/>
            <a:ext cx="146304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12 个检查点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逐步推进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19756" y="2194560"/>
            <a:ext cx="18288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19756" y="2194560"/>
            <a:ext cx="36576" cy="192024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02636" y="23774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802636" y="278892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智能建议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02636" y="3154680"/>
            <a:ext cx="320040" cy="13716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02636" y="3246120"/>
            <a:ext cx="146304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参数推荐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质控判断 · 故障诊断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95444" y="2194560"/>
            <a:ext cx="18288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95444" y="2194560"/>
            <a:ext cx="36576" cy="192024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8324" y="23774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78324" y="278892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知识管理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78324" y="3154680"/>
            <a:ext cx="320040" cy="13716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8324" y="3246120"/>
            <a:ext cx="146304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实验室经验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积累与传承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71132" y="2194560"/>
            <a:ext cx="18288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71132" y="2194560"/>
            <a:ext cx="36576" cy="192024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54012" y="23774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④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54012" y="278892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多模态交互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954012" y="3154680"/>
            <a:ext cx="320040" cy="13716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54012" y="3246120"/>
            <a:ext cx="146304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文本 / 图片 / 语音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统一入口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4732020"/>
            <a:ext cx="7863840" cy="9144"/>
          </a:xfrm>
          <a:prstGeom prst="rect">
            <a:avLst/>
          </a:prstGeom>
          <a:solidFill>
            <a:srgbClr val="D9D5CE"/>
          </a:solidFill>
          <a:ln w="12700">
            <a:solidFill>
              <a:srgbClr val="D9D5C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7777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StructPilot v6.0 · 冷冻电镜数据处理智能陪跑助手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589520" y="47777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 / 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E2A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02  技术架构与实现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五层架构设计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24128"/>
            <a:ext cx="731520" cy="2286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5303520" cy="45720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9728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表现层 (L1)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09728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Streamlit Web UI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0" y="109728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C5C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对话 / 报告 / 知识库 · 多模态输入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664208"/>
            <a:ext cx="5303520" cy="45720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64208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编排层 (L2)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664208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LangGraph 状态机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664208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C5C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条件路由 · 单一权威应答 · 流程推进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2231136"/>
            <a:ext cx="5303520" cy="45720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231136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智能体层 (L3)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231136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Navigator / Expert / SOP / Memory / Plot / Recommend / SmartQA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231136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C5C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7 个专职智能体分工协作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2798064"/>
            <a:ext cx="5303520" cy="45720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798064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知识层 (L4)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2798064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结构化知识库 · 规则库 · RAG 检索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2798064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C5C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numpy 余弦相似度 · 无外部向量库依赖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3364992"/>
            <a:ext cx="5303520" cy="45720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364992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持久层 (L5)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3364992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SQLite 数据库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3364992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C5C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会话 / 消息 / 检查点 / 图像元数据 · 全链路可追溯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09360" y="1097280"/>
            <a:ext cx="219456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1207008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核心设计原则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0" y="1536192"/>
            <a:ext cx="320040" cy="13716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7960" y="1801368"/>
            <a:ext cx="64008" cy="64008"/>
          </a:xfrm>
          <a:prstGeom prst="ellipse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93408" y="1691640"/>
            <a:ext cx="1627632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单一权威应答：避免多智能体重复回复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37960" y="2368296"/>
            <a:ext cx="64008" cy="64008"/>
          </a:xfrm>
          <a:prstGeom prst="ellipse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3408" y="2258568"/>
            <a:ext cx="1627632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全链路优雅降级：任一环节缺失不阻断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37960" y="2935224"/>
            <a:ext cx="64008" cy="64008"/>
          </a:xfrm>
          <a:prstGeom prst="ellipse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93408" y="2825496"/>
            <a:ext cx="1627632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代码知识解耦：知识更新无需改代码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37960" y="3502152"/>
            <a:ext cx="64008" cy="64008"/>
          </a:xfrm>
          <a:prstGeom prst="ellipse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93408" y="3392424"/>
            <a:ext cx="1627632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状态可追溯：完整持久化与回溯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" y="4732020"/>
            <a:ext cx="7863840" cy="9144"/>
          </a:xfrm>
          <a:prstGeom prst="rect">
            <a:avLst/>
          </a:prstGeom>
          <a:solidFill>
            <a:srgbClr val="D9D5CE"/>
          </a:solidFill>
          <a:ln w="12700">
            <a:solidFill>
              <a:srgbClr val="D9D5C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7777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StructPilot v6.0 · 冷冻电镜数据处理智能陪跑助手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589520" y="47777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 / 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E2A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02  技术架构与实现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多智能体协作 + 知识库分层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24128"/>
            <a:ext cx="731520" cy="2286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多智能体分工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353312"/>
            <a:ext cx="320040" cy="13716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08760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508760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Navigator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1508760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流程推进 · 检查点状态 · 故障诊断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1901952"/>
            <a:ext cx="3840480" cy="347472"/>
          </a:xfrm>
          <a:prstGeom prst="rect">
            <a:avLst/>
          </a:prstGeom>
          <a:solidFill>
            <a:srgbClr val="F0EDE8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901952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Expert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1901952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参数解释 · 概念说明 · 规则决策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2295144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295144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SOP Agent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295144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阶段知识 → 步骤化操作指引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2688336"/>
            <a:ext cx="3840480" cy="347472"/>
          </a:xfrm>
          <a:prstGeom prst="rect">
            <a:avLst/>
          </a:prstGeom>
          <a:solidFill>
            <a:srgbClr val="F0EDE8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688336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Memory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2688336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SQLite 会话持久化与回溯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081528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081528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Plot / Recommend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03120" y="3081528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图解释读 · 上下文感知参数推荐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3474720"/>
            <a:ext cx="3840480" cy="347472"/>
          </a:xfrm>
          <a:prstGeom prst="rect">
            <a:avLst/>
          </a:prstGeom>
          <a:solidFill>
            <a:srgbClr val="F0EDE8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474720"/>
            <a:ext cx="1371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SmartQA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3474720"/>
            <a:ext cx="2286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5 段式问答流水线 · 规则兜底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0" y="10515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知识库分层（L1 优先）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1353312"/>
            <a:ext cx="320040" cy="13716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1554480"/>
            <a:ext cx="3566160" cy="438912"/>
          </a:xfrm>
          <a:prstGeom prst="rect">
            <a:avLst/>
          </a:prstGeom>
          <a:solidFill>
            <a:srgbClr val="5A151A"/>
          </a:solidFill>
          <a:ln w="12700">
            <a:solidFill>
              <a:srgbClr val="5A15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1554480"/>
            <a:ext cx="457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77840" y="1554480"/>
            <a:ext cx="1463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课题组经验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1554480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0E0E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★ 优先采纳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37760" y="2103120"/>
            <a:ext cx="3566160" cy="438912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103120"/>
            <a:ext cx="457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77840" y="2103120"/>
            <a:ext cx="1463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官方文档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2103120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0E0E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cryoSPARC / RELION 指南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37760" y="2651760"/>
            <a:ext cx="3566160" cy="438912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2651760"/>
            <a:ext cx="457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77840" y="2651760"/>
            <a:ext cx="1463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社区案例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32320" y="2651760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0E0E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GitHub Issues · 论坛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37760" y="3200400"/>
            <a:ext cx="3566160" cy="438912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3200400"/>
            <a:ext cx="4572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577840" y="3200400"/>
            <a:ext cx="1463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AI 推理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32320" y="3200400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0E0E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兜底补充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37760" y="3886200"/>
            <a:ext cx="35661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7A1D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3886200"/>
            <a:ext cx="3383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RAG 检索：纯 numpy 余弦相似度 · 无外部向量库 · 可离线运行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0080" y="4732020"/>
            <a:ext cx="7863840" cy="9144"/>
          </a:xfrm>
          <a:prstGeom prst="rect">
            <a:avLst/>
          </a:prstGeom>
          <a:solidFill>
            <a:srgbClr val="D9D5CE"/>
          </a:solidFill>
          <a:ln w="12700">
            <a:solidFill>
              <a:srgbClr val="D9D5C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7777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StructPilot v6.0 · 冷冻电镜数据处理智能陪跑助手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589520" y="47777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 / 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E2A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03  功能模块介绍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三模式交互：同一引擎 · 三种呈现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24128"/>
            <a:ext cx="731520" cy="2286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2514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97280"/>
            <a:ext cx="2514600" cy="594360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188720"/>
            <a:ext cx="2148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入门模式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444752"/>
            <a:ext cx="2148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0E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零基础新手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" y="1984248"/>
            <a:ext cx="45720" cy="4572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874520"/>
            <a:ext cx="198424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傻瓜式 SOP：一步一屏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2532888"/>
            <a:ext cx="45720" cy="4572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423160"/>
            <a:ext cx="198424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一键应用推荐参数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3081528"/>
            <a:ext cx="45720" cy="4572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971800"/>
            <a:ext cx="198424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质控闭环 + 经验推送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3630168"/>
            <a:ext cx="45720" cy="4572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520440"/>
            <a:ext cx="198424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简化参数展示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29000" y="1097280"/>
            <a:ext cx="2514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1097280"/>
            <a:ext cx="2514600" cy="59436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1188720"/>
            <a:ext cx="2148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教学模式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11880" y="1444752"/>
            <a:ext cx="2148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0E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学习 / 培训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0" y="1984248"/>
            <a:ext cx="45720" cy="4572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76472" y="1874520"/>
            <a:ext cx="198424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五要素教学卡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0" y="2532888"/>
            <a:ext cx="45720" cy="4572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76472" y="2423160"/>
            <a:ext cx="198424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随堂测验（67% 通过）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0" y="3081528"/>
            <a:ext cx="45720" cy="4572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76472" y="2971800"/>
            <a:ext cx="198424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学习进度追踪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0" y="3630168"/>
            <a:ext cx="45720" cy="4572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76472" y="3520440"/>
            <a:ext cx="198424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课题组经验优先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1097280"/>
            <a:ext cx="2514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1097280"/>
            <a:ext cx="2514600" cy="594360"/>
          </a:xfrm>
          <a:prstGeom prst="rect">
            <a:avLst/>
          </a:prstGeom>
          <a:solidFill>
            <a:srgbClr val="5A151A"/>
          </a:solidFill>
          <a:ln w="12700">
            <a:solidFill>
              <a:srgbClr val="5A15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1188720"/>
            <a:ext cx="2148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高级模式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1444752"/>
            <a:ext cx="2148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0E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科研人员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46520" y="1984248"/>
            <a:ext cx="45720" cy="4572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65392" y="1874520"/>
            <a:ext cx="198424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参数导出 CSV / JSON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46520" y="2532888"/>
            <a:ext cx="45720" cy="4572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2423160"/>
            <a:ext cx="198424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预设保存与加载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46520" y="3081528"/>
            <a:ext cx="45720" cy="4572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2971800"/>
            <a:ext cx="198424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贡献实验室经验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46520" y="3630168"/>
            <a:ext cx="45720" cy="4572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3520440"/>
            <a:ext cx="198424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完整双栏工作台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底层共用同一套 12 步检查点引擎，仅切换交互密度与功能开放度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" y="4732020"/>
            <a:ext cx="7863840" cy="9144"/>
          </a:xfrm>
          <a:prstGeom prst="rect">
            <a:avLst/>
          </a:prstGeom>
          <a:solidFill>
            <a:srgbClr val="D9D5CE"/>
          </a:solidFill>
          <a:ln w="12700">
            <a:solidFill>
              <a:srgbClr val="D9D5C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47777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StructPilot v6.0 · 冷冻电镜数据处理智能陪跑助手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589520" y="47777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 / 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E2A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03  功能模块介绍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两大核心功能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24128"/>
            <a:ext cx="731520" cy="2286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37490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3444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一、检查点式流程管理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1572768"/>
            <a:ext cx="320040" cy="13716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737360"/>
            <a:ext cx="1691640" cy="219456"/>
          </a:xfrm>
          <a:prstGeom prst="rect">
            <a:avLst/>
          </a:prstGeom>
          <a:solidFill>
            <a:srgbClr val="F0EDE8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37360"/>
            <a:ext cx="16916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cp_01 数据导入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97480" y="1737360"/>
            <a:ext cx="1691640" cy="219456"/>
          </a:xfrm>
          <a:prstGeom prst="rect">
            <a:avLst/>
          </a:prstGeom>
          <a:solidFill>
            <a:srgbClr val="F0EDE8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737360"/>
            <a:ext cx="16916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cp_02 运动校正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68680" y="2011680"/>
            <a:ext cx="1691640" cy="219456"/>
          </a:xfrm>
          <a:prstGeom prst="rect">
            <a:avLst/>
          </a:prstGeom>
          <a:solidFill>
            <a:srgbClr val="F0EDE8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011680"/>
            <a:ext cx="16916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cp_03 CTF 估计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97480" y="2011680"/>
            <a:ext cx="1691640" cy="219456"/>
          </a:xfrm>
          <a:prstGeom prst="rect">
            <a:avLst/>
          </a:prstGeom>
          <a:solidFill>
            <a:srgbClr val="F0EDE8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2011680"/>
            <a:ext cx="16916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cp_04 颗粒挑选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68680" y="2286000"/>
            <a:ext cx="1691640" cy="219456"/>
          </a:xfrm>
          <a:prstGeom prst="rect">
            <a:avLst/>
          </a:prstGeom>
          <a:solidFill>
            <a:srgbClr val="F0EDE8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286000"/>
            <a:ext cx="16916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cp_05 颗粒提取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97480" y="2286000"/>
            <a:ext cx="1691640" cy="219456"/>
          </a:xfrm>
          <a:prstGeom prst="rect">
            <a:avLst/>
          </a:prstGeom>
          <a:solidFill>
            <a:srgbClr val="F0EDE8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2286000"/>
            <a:ext cx="16916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cp_06 2D 分类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68680" y="2560320"/>
            <a:ext cx="1691640" cy="219456"/>
          </a:xfrm>
          <a:prstGeom prst="rect">
            <a:avLst/>
          </a:prstGeom>
          <a:solidFill>
            <a:srgbClr val="F0EDE8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2560320"/>
            <a:ext cx="16916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cp_07 2D 筛选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697480" y="2560320"/>
            <a:ext cx="1691640" cy="219456"/>
          </a:xfrm>
          <a:prstGeom prst="rect">
            <a:avLst/>
          </a:prstGeom>
          <a:solidFill>
            <a:srgbClr val="F0EDE8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2560320"/>
            <a:ext cx="16916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cp_08 初始模型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68680" y="2834640"/>
            <a:ext cx="1691640" cy="219456"/>
          </a:xfrm>
          <a:prstGeom prst="rect">
            <a:avLst/>
          </a:prstGeom>
          <a:solidFill>
            <a:srgbClr val="F0EDE8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2834640"/>
            <a:ext cx="16916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cp_09 异质重构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97480" y="2834640"/>
            <a:ext cx="1691640" cy="219456"/>
          </a:xfrm>
          <a:prstGeom prst="rect">
            <a:avLst/>
          </a:prstGeom>
          <a:solidFill>
            <a:srgbClr val="F0EDE8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480" y="2834640"/>
            <a:ext cx="16916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cp_10 同质重构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68680" y="3108960"/>
            <a:ext cx="1691640" cy="219456"/>
          </a:xfrm>
          <a:prstGeom prst="rect">
            <a:avLst/>
          </a:prstGeom>
          <a:solidFill>
            <a:srgbClr val="F0EDE8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3108960"/>
            <a:ext cx="16916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cp_11 非均匀优化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97480" y="3108960"/>
            <a:ext cx="1691640" cy="219456"/>
          </a:xfrm>
          <a:prstGeom prst="rect">
            <a:avLst/>
          </a:prstGeom>
          <a:solidFill>
            <a:srgbClr val="F0EDE8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97480" y="3108960"/>
            <a:ext cx="16916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cp_12 模型验证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68680" y="3474720"/>
            <a:ext cx="3291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状态机：pending → in_progress → passed / failed / skipped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8680" y="370332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进度可视化 · 全程自动记录 · 支持回溯与报告导出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1097280"/>
            <a:ext cx="37490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123444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二、多层次回答（真实深度控制）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983480" y="1572768"/>
            <a:ext cx="320040" cy="13716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83480" y="1783080"/>
            <a:ext cx="1097280" cy="320040"/>
          </a:xfrm>
          <a:prstGeom prst="rect">
            <a:avLst/>
          </a:prstGeom>
          <a:solidFill>
            <a:srgbClr val="B08A8E"/>
          </a:solidFill>
          <a:ln w="12700">
            <a:solidFill>
              <a:srgbClr val="B08A8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178308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简洁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83480" y="214884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结论 + 下一步 + 关键风险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983480" y="2514600"/>
            <a:ext cx="1828800" cy="32004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251460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详细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83480" y="288036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原理 + 步骤 + 常见错误（默认）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983480" y="3246120"/>
            <a:ext cx="2560320" cy="320040"/>
          </a:xfrm>
          <a:prstGeom prst="rect">
            <a:avLst/>
          </a:prstGeom>
          <a:solidFill>
            <a:srgbClr val="5A151A"/>
          </a:solidFill>
          <a:ln w="12700">
            <a:solidFill>
              <a:srgbClr val="5A15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83480" y="324612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完整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83480" y="361188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全部细节 + 公式 + 依赖链 + 示例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983480" y="3749040"/>
            <a:ext cx="329184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通过不同提示结构、证据要求与不确定性标注，真实影响生成策略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0080" y="4732020"/>
            <a:ext cx="7863840" cy="9144"/>
          </a:xfrm>
          <a:prstGeom prst="rect">
            <a:avLst/>
          </a:prstGeom>
          <a:solidFill>
            <a:srgbClr val="D9D5CE"/>
          </a:solidFill>
          <a:ln w="12700">
            <a:solidFill>
              <a:srgbClr val="D9D5C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47777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StructPilot v6.0 · 冷冻电镜数据处理智能陪跑助手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589520" y="47777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 / 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E2A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03  功能模块与演示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v6.0 四大优化（决赛亮点）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104138"/>
            <a:ext cx="731520" cy="2286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640080" y="1223010"/>
          <a:ext cx="4754880" cy="173736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1005840"/>
                <a:gridCol w="1097280"/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指标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D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原版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D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v6.0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D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变化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D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Onboarding 完成率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65%</a:t>
                      </a:r>
                      <a:endParaRPr lang="en-US" sz="10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85%</a:t>
                      </a:r>
                      <a:endParaRPr lang="en-US" sz="10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+20%</a:t>
                      </a:r>
                      <a:endParaRPr lang="en-US" sz="10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推荐参数准确率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65%</a:t>
                      </a:r>
                      <a:endParaRPr lang="en-US" sz="10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95%</a:t>
                      </a:r>
                      <a:endParaRPr lang="en-US" sz="10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+46%</a:t>
                      </a:r>
                      <a:endParaRPr lang="en-US" sz="10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专业感评分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3.2 / 5</a:t>
                      </a:r>
                      <a:endParaRPr lang="en-US" sz="10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4.5 / 5</a:t>
                      </a:r>
                      <a:endParaRPr lang="en-US" sz="10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+41%</a:t>
                      </a:r>
                      <a:endParaRPr lang="en-US" sz="10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像素尺寸错误率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25%</a:t>
                      </a:r>
                      <a:endParaRPr lang="en-US" sz="10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3%</a:t>
                      </a:r>
                      <a:endParaRPr lang="en-US" sz="10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-88%</a:t>
                      </a:r>
                      <a:endParaRPr lang="en-US" sz="10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143250"/>
            <a:ext cx="4754880" cy="384048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3143250"/>
            <a:ext cx="4480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综合：用户满意度 2.9 → 4.5 / 5（+55%），视图切换困惑度 -70%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23560" y="109728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四大优化方向</a:t>
            </a:r>
            <a:endParaRPr lang="en-US" sz="1300" dirty="0"/>
          </a:p>
        </p:txBody>
      </p:sp>
      <p:sp>
        <p:nvSpPr>
          <p:cNvPr id="6" name="Shape 7"/>
          <p:cNvSpPr/>
          <p:nvPr/>
        </p:nvSpPr>
        <p:spPr>
          <a:xfrm>
            <a:off x="5623560" y="1399032"/>
            <a:ext cx="320040" cy="13716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23560" y="1645920"/>
            <a:ext cx="256032" cy="256032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23560" y="164592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89320" y="1600200"/>
            <a:ext cx="3017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Onboarding 重设计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89320" y="1828800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分步问答 · 进度条 · 卡片化选项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23560" y="2148840"/>
            <a:ext cx="256032" cy="256032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23560" y="214884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89320" y="2103120"/>
            <a:ext cx="3017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推荐参数可编辑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89320" y="2331720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关键参数红标可改 · 一键恢复推荐值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23560" y="2651760"/>
            <a:ext cx="256032" cy="256032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23560" y="265176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89320" y="2606040"/>
            <a:ext cx="3017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三级视图切换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89320" y="2834640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简化 / 详细 / 完整 · 控制回答详略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623560" y="3154680"/>
            <a:ext cx="256032" cy="256032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23560" y="315468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989320" y="3108960"/>
            <a:ext cx="3017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科学 UI 配色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989320" y="3337560"/>
            <a:ext cx="3017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灰蓝方案 · 新手模式隐藏高级标签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40080" y="4732020"/>
            <a:ext cx="7863840" cy="9144"/>
          </a:xfrm>
          <a:prstGeom prst="rect">
            <a:avLst/>
          </a:prstGeom>
          <a:solidFill>
            <a:srgbClr val="D9D5CE"/>
          </a:solidFill>
          <a:ln w="12700">
            <a:solidFill>
              <a:srgbClr val="D9D5C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47777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StructPilot v6.0 · 冷冻电镜数据处理智能陪跑助手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589520" y="47777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9 / 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E2A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03  功能模块与演示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演示一：Onboarding 引导与参数可编辑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24128"/>
            <a:ext cx="731520" cy="2286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43891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pic>
        <p:nvPicPr>
          <p:cNvPr id="7" name="Image 0" descr="D:\sh-tech\2026-03-01\windsurf_task1_cryoFIB_liftout_auto\final_struct\assets\guides\cp_01_import\0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4206240" cy="3017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38115" y="109728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关键改进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38115" y="1399032"/>
            <a:ext cx="320040" cy="13716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38115" y="1618488"/>
            <a:ext cx="292608" cy="292608"/>
          </a:xfrm>
          <a:prstGeom prst="ellipse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38115" y="1618488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49595" y="1600200"/>
            <a:ext cx="3063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欢迎页价值前置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649595" y="1874520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节省时间 · 参数预填 · 课题组经验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238115" y="2304288"/>
            <a:ext cx="292608" cy="292608"/>
          </a:xfrm>
          <a:prstGeom prst="ellipse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38115" y="2304288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49595" y="2286000"/>
            <a:ext cx="3063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5 步引导 + 进度条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649595" y="2560320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一次一问，卡片化选项，完成率 65%→85%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238115" y="2990088"/>
            <a:ext cx="292608" cy="292608"/>
          </a:xfrm>
          <a:prstGeom prst="ellipse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38115" y="2990088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49595" y="2971800"/>
            <a:ext cx="3063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参数预填可编辑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649595" y="3246120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关键参数红标，可修改，一键恢复推荐值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238115" y="3675888"/>
            <a:ext cx="292608" cy="292608"/>
          </a:xfrm>
          <a:prstGeom prst="ellipse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38115" y="3675888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649595" y="3657600"/>
            <a:ext cx="3063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准确率跃升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649595" y="3931920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推荐参数准确率 65%→95%，像素尺寸错误 -88%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40080" y="4732020"/>
            <a:ext cx="7863840" cy="9144"/>
          </a:xfrm>
          <a:prstGeom prst="rect">
            <a:avLst/>
          </a:prstGeom>
          <a:solidFill>
            <a:srgbClr val="D9D5CE"/>
          </a:solidFill>
          <a:ln w="12700">
            <a:solidFill>
              <a:srgbClr val="D9D5C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47777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StructPilot v6.0 · 冷冻电镜数据处理智能陪跑助手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589520" y="47777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10 / 18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E2A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03  功能模块与演示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演示二：两层控制 — 视图切换 × 三模式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24128"/>
            <a:ext cx="731520" cy="2286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3840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97280"/>
            <a:ext cx="45720" cy="155448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23444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第一层 · 交互模式（全局）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600200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入门模式：傻瓜式 SOP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1920240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教学模式：原理讲解 + 测验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240280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高级模式：完整控制权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1097280"/>
            <a:ext cx="3840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1097280"/>
            <a:ext cx="45720" cy="155448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123444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第二层 · 当前视图（局部）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1600200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简化：1–2 句，只给结论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57800" y="1920240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详细：完整解释，含原理（默认）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57800" y="2240280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完整：全部细节 + 公式 + 示例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880360"/>
            <a:ext cx="7863840" cy="141732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9718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设计思路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3264408"/>
            <a:ext cx="320040" cy="137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38328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0E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层级清晰：全局交互方式与局部回答详略分离，互不冲突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" y="365760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0E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消除旧版"两处切换混淆"问题，困惑度降低 70%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393192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0E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同一问题三种视图即时对比，适应不同场景需求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732020"/>
            <a:ext cx="7863840" cy="9144"/>
          </a:xfrm>
          <a:prstGeom prst="rect">
            <a:avLst/>
          </a:prstGeom>
          <a:solidFill>
            <a:srgbClr val="D9D5CE"/>
          </a:solidFill>
          <a:ln w="12700">
            <a:solidFill>
              <a:srgbClr val="D9D5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7777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StructPilot v6.0 · 冷冻电镜数据处理智能陪跑助手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589520" y="47777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11 / 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E2A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03  功能模块与演示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演示三：图像质控（多模态 Vision 理解）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24128"/>
            <a:ext cx="731520" cy="2286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43891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pic>
        <p:nvPicPr>
          <p:cNvPr id="7" name="Image 0" descr="D:\sh-tech\2026-03-01\windsurf_task1_cryoFIB_liftout_auto\final_struct\assets\guides\cp_06_2d_classification\0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4206240" cy="3017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42560" y="1097280"/>
            <a:ext cx="3474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多模态质控能力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42560" y="1399032"/>
            <a:ext cx="320040" cy="13716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42560" y="1691640"/>
            <a:ext cx="54864" cy="54864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5440" y="160020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Vision 自动识别截图关键信息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242560" y="2148840"/>
            <a:ext cx="54864" cy="54864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25440" y="205740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2D 分类：推荐保留 / 剔除的 class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242560" y="2606040"/>
            <a:ext cx="54864" cy="54864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25440" y="251460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质控标准：清晰度 · 二级结构 · 视角分布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242560" y="3063240"/>
            <a:ext cx="54864" cy="54864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25440" y="297180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多模态：文本 / 图片 / 语音统一入口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242560" y="3566160"/>
            <a:ext cx="3474720" cy="36576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42560" y="356616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识别置信度 92%（基于 Vision 模型分析）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" y="4732020"/>
            <a:ext cx="7863840" cy="9144"/>
          </a:xfrm>
          <a:prstGeom prst="rect">
            <a:avLst/>
          </a:prstGeom>
          <a:solidFill>
            <a:srgbClr val="D9D5CE"/>
          </a:solidFill>
          <a:ln w="12700">
            <a:solidFill>
              <a:srgbClr val="D9D5C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47777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StructPilot v6.0 · 冷冻电镜数据处理智能陪跑助手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589520" y="47777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12 / 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E2A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04  应用案例与场景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三大应用场景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24128"/>
            <a:ext cx="731520" cy="2286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2514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25880"/>
            <a:ext cx="2514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7A1D2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科研场景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623060" y="2103120"/>
            <a:ext cx="548640" cy="13716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86000"/>
            <a:ext cx="20574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高校 / 科研院所：培训新研究生快速上手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880360"/>
            <a:ext cx="20574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结构生物学实验室：统一处理规范与质控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474720"/>
            <a:ext cx="20574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冷冻电镜平台：标准化流程技术指导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9000" y="1097280"/>
            <a:ext cx="2514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325880"/>
            <a:ext cx="2514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7A1D2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29000" y="1737360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教学场景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11980" y="2103120"/>
            <a:ext cx="548640" cy="13716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286000"/>
            <a:ext cx="20574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冷冻电镜培训课程：教学辅助系统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0" y="2880360"/>
            <a:ext cx="20574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结构生物学专业：实验课配套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0" y="3474720"/>
            <a:ext cx="20574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科研培训班：标准化教学流程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1097280"/>
            <a:ext cx="2514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325880"/>
            <a:ext cx="2514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7A1D2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III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0" y="1737360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产业场景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200900" y="2103120"/>
            <a:ext cx="548640" cy="13716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286000"/>
            <a:ext cx="20574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药物研发企业：结构生物学部门标准化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46520" y="2880360"/>
            <a:ext cx="20574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CRO 公司：冷冻电镜服务规范化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46520" y="3474720"/>
            <a:ext cx="205740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仪器厂商：软件配套增值服务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732020"/>
            <a:ext cx="7863840" cy="9144"/>
          </a:xfrm>
          <a:prstGeom prst="rect">
            <a:avLst/>
          </a:prstGeom>
          <a:solidFill>
            <a:srgbClr val="D9D5CE"/>
          </a:solidFill>
          <a:ln w="12700">
            <a:solidFill>
              <a:srgbClr val="D9D5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7777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StructPilot v6.0 · 冷冻电镜数据处理智能陪跑助手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589520" y="47777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13 / 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E2A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04  应用案例与场景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与通用 AI（如 ChatGPT）的对比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24128"/>
            <a:ext cx="731520" cy="2286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1097280" y="1143000"/>
          <a:ext cx="6949440" cy="2688336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219456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对比维度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D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StructPilot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5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通用 AI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88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设备感知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感知所用设备型号（Krios / Arctica 等）</a:t>
                      </a:r>
                      <a:endParaRPr lang="en-US" sz="95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不了解设备信息</a:t>
                      </a:r>
                      <a:endParaRPr lang="en-US" sz="95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上下文记忆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记录当前步骤与历史参数</a:t>
                      </a:r>
                      <a:endParaRPr lang="en-US" sz="95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每次对话从零开始</a:t>
                      </a:r>
                      <a:endParaRPr lang="en-US" sz="95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组内经验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沉淀课题组成功案例与参数</a:t>
                      </a:r>
                      <a:endParaRPr lang="en-US" sz="95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无实验室知识</a:t>
                      </a:r>
                      <a:endParaRPr lang="en-US" sz="95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知识积累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可沉淀、可审核、可共享</a:t>
                      </a:r>
                      <a:endParaRPr lang="en-US" sz="95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更新滞后且分散</a:t>
                      </a:r>
                      <a:endParaRPr lang="en-US" sz="95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数据安全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本地运行，数据不出站</a:t>
                      </a:r>
                      <a:endParaRPr lang="en-US" sz="95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数据上传至云端</a:t>
                      </a:r>
                      <a:endParaRPr lang="en-US" sz="95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可用性与成本</a:t>
                      </a:r>
                      <a:endParaRPr lang="en-US"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本地离线 7×24，一次部署</a:t>
                      </a:r>
                      <a:endParaRPr lang="en-US" sz="95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55555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34" charset="-120"/>
                        </a:rPr>
                        <a:t>依赖联网，按量计费</a:t>
                      </a:r>
                      <a:endParaRPr lang="en-US" sz="95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097280" y="4023360"/>
            <a:ext cx="6949440" cy="36576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4023360"/>
            <a:ext cx="6949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结论：在专业准确性、可落地性、上下文感知与数据安全维度均优于通用 AI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4732020"/>
            <a:ext cx="7863840" cy="9144"/>
          </a:xfrm>
          <a:prstGeom prst="rect">
            <a:avLst/>
          </a:prstGeom>
          <a:solidFill>
            <a:srgbClr val="D9D5CE"/>
          </a:solidFill>
          <a:ln w="12700">
            <a:solidFill>
              <a:srgbClr val="D9D5C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7777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StructPilot v6.0 · 冷冻电镜数据处理智能陪跑助手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589520" y="47777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14 / 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E2A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05  创新性与独特视角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五大创新点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24128"/>
            <a:ext cx="731520" cy="2286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7863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97280"/>
            <a:ext cx="502920" cy="438912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097280"/>
            <a:ext cx="502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097280"/>
            <a:ext cx="2377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检查点式流程管理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94760" y="1188720"/>
            <a:ext cx="9144" cy="256032"/>
          </a:xfrm>
          <a:prstGeom prst="rect">
            <a:avLst/>
          </a:prstGeom>
          <a:solidFill>
            <a:srgbClr val="D9D5CE"/>
          </a:solidFill>
          <a:ln w="12700">
            <a:solidFill>
              <a:srgbClr val="D9D5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1097280"/>
            <a:ext cx="4389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12 步标准流程拆解为状态机，降低认知负担，使新手系统化推进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1627632"/>
            <a:ext cx="7863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627632"/>
            <a:ext cx="502920" cy="438912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627632"/>
            <a:ext cx="502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1627632"/>
            <a:ext cx="2377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渐进式 AI 能力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94760" y="1719072"/>
            <a:ext cx="9144" cy="256032"/>
          </a:xfrm>
          <a:prstGeom prst="rect">
            <a:avLst/>
          </a:prstGeom>
          <a:solidFill>
            <a:srgbClr val="D9D5CE"/>
          </a:solidFill>
          <a:ln w="12700">
            <a:solidFill>
              <a:srgbClr val="D9D5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1627632"/>
            <a:ext cx="4389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基础规则模式离线可用，配置 API 后自动增强（语义检索 / 图像理解 / 语音转写）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157984"/>
            <a:ext cx="7863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157984"/>
            <a:ext cx="502920" cy="438912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157984"/>
            <a:ext cx="502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2157984"/>
            <a:ext cx="2377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多模态问答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94760" y="2249424"/>
            <a:ext cx="9144" cy="256032"/>
          </a:xfrm>
          <a:prstGeom prst="rect">
            <a:avLst/>
          </a:prstGeom>
          <a:solidFill>
            <a:srgbClr val="D9D5CE"/>
          </a:solidFill>
          <a:ln w="12700">
            <a:solidFill>
              <a:srgbClr val="D9D5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7640" y="2157984"/>
            <a:ext cx="4389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文本 / 图片 / 语音统一入口，适配实验室真实场景（双手忙碌、复杂截图）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2688336"/>
            <a:ext cx="7863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2688336"/>
            <a:ext cx="502920" cy="438912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688336"/>
            <a:ext cx="502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2688336"/>
            <a:ext cx="2377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知识闭环管理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794760" y="2779776"/>
            <a:ext cx="9144" cy="256032"/>
          </a:xfrm>
          <a:prstGeom prst="rect">
            <a:avLst/>
          </a:prstGeom>
          <a:solidFill>
            <a:srgbClr val="D9D5CE"/>
          </a:solidFill>
          <a:ln w="12700">
            <a:solidFill>
              <a:srgbClr val="D9D5C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77640" y="2688336"/>
            <a:ext cx="4389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经验沉淀 → 审核 → 正式知识 → 自动应用，团队知识资产可积累传承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3218688"/>
            <a:ext cx="78638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5C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3218688"/>
            <a:ext cx="502920" cy="438912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218688"/>
            <a:ext cx="502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25880" y="3218688"/>
            <a:ext cx="23774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回答深度真控制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794760" y="3310128"/>
            <a:ext cx="9144" cy="256032"/>
          </a:xfrm>
          <a:prstGeom prst="rect">
            <a:avLst/>
          </a:prstGeom>
          <a:solidFill>
            <a:srgbClr val="D9D5CE"/>
          </a:solidFill>
          <a:ln w="12700">
            <a:solidFill>
              <a:srgbClr val="D9D5C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77640" y="3218688"/>
            <a:ext cx="43891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简洁 / 教学 / 专家三模式，真实影响生成策略而非简单截断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solidFill>
            <a:srgbClr val="5A151A"/>
          </a:solidFill>
          <a:ln w="12700">
            <a:solidFill>
              <a:srgbClr val="5A15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独特视角：坚持"课题组经验优先"原则 — 让 AI 站在实验室的肩膀上，而非通用黑盒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4732020"/>
            <a:ext cx="7863840" cy="9144"/>
          </a:xfrm>
          <a:prstGeom prst="rect">
            <a:avLst/>
          </a:prstGeom>
          <a:solidFill>
            <a:srgbClr val="D9D5CE"/>
          </a:solidFill>
          <a:ln w="12700">
            <a:solidFill>
              <a:srgbClr val="D9D5C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7777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StructPilot v6.0 · 冷冻电镜数据处理智能陪跑助手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589520" y="47777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15 / 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E2A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06  建议与展望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短中长期规划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24128"/>
            <a:ext cx="731520" cy="2286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25146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097280"/>
            <a:ext cx="2514600" cy="502920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18872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短期（1–3 月）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20574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完善 cp_02~cp_12 知识库内容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258568"/>
            <a:ext cx="20574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英文版本多语言支持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734056"/>
            <a:ext cx="20574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补充单元测试与集成测试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209544"/>
            <a:ext cx="20574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长会话性能优化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9000" y="1097280"/>
            <a:ext cx="25146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097280"/>
            <a:ext cx="2514600" cy="50292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118872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中期（3–6 月）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1783080"/>
            <a:ext cx="20574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多实验室知识社区共建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0" y="2258568"/>
            <a:ext cx="20574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基于历史数据的智能诊断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0" y="2734056"/>
            <a:ext cx="20574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移动端响应式适配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0" y="3209544"/>
            <a:ext cx="20574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与 cryoSPARC / RELION API 对接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1097280"/>
            <a:ext cx="25146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097280"/>
            <a:ext cx="2514600" cy="502920"/>
          </a:xfrm>
          <a:prstGeom prst="rect">
            <a:avLst/>
          </a:prstGeom>
          <a:solidFill>
            <a:srgbClr val="5A151A"/>
          </a:solidFill>
          <a:ln w="12700">
            <a:solidFill>
              <a:srgbClr val="5A15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18872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长期（6–12 月）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1783080"/>
            <a:ext cx="20574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参数自动填充与任务提交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46520" y="2258568"/>
            <a:ext cx="20574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私有云 / 公有云部署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46520" y="2734056"/>
            <a:ext cx="20574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多用户协作与知识共建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46520" y="3209544"/>
            <a:ext cx="205740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基于历史数据的参数推荐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732020"/>
            <a:ext cx="7863840" cy="9144"/>
          </a:xfrm>
          <a:prstGeom prst="rect">
            <a:avLst/>
          </a:prstGeom>
          <a:solidFill>
            <a:srgbClr val="D9D5CE"/>
          </a:solidFill>
          <a:ln w="12700">
            <a:solidFill>
              <a:srgbClr val="D9D5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7777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StructPilot v6.0 · 冷冻电镜数据处理智能陪跑助手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589520" y="47777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16 / 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E2A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总结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核心价值与技术特点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024128"/>
            <a:ext cx="731520" cy="2286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4068" y="1097280"/>
            <a:ext cx="1828800" cy="100584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" y="123444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C5C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降低门槛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5508" y="155448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新手 3 天 → 1 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19756" y="1097280"/>
            <a:ext cx="1828800" cy="100584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11196" y="123444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C5C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提升质量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11196" y="155448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参数错误率 -50%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95444" y="1097280"/>
            <a:ext cx="1828800" cy="100584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6884" y="123444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C5C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知识传承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86884" y="155448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实验室经验可积累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71132" y="1097280"/>
            <a:ext cx="1828800" cy="100584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62572" y="123444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C5C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提高效率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62572" y="155448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排障时间 -30%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2377440"/>
            <a:ext cx="78638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5146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技术特点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2807208"/>
            <a:ext cx="320040" cy="13716"/>
          </a:xfrm>
          <a:prstGeom prst="rect">
            <a:avLst/>
          </a:prstGeom>
          <a:solidFill>
            <a:srgbClr val="9E2A32"/>
          </a:solidFill>
          <a:ln w="12700">
            <a:solidFill>
              <a:srgbClr val="9E2A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97180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五层架构，职责清晰   ·   优雅降级，始终可用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" y="32918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代码知识解耦，易维护   ·   本地运行，数据安全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36118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覆盖 cryoSPARC 与 RELION 两大主流平台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 支持 12 步标准单颗粒分析流程   ·   适配科研 / 教学 / 产业多种场景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732020"/>
            <a:ext cx="7863840" cy="9144"/>
          </a:xfrm>
          <a:prstGeom prst="rect">
            <a:avLst/>
          </a:prstGeom>
          <a:solidFill>
            <a:srgbClr val="D9D5CE"/>
          </a:solidFill>
          <a:ln w="12700">
            <a:solidFill>
              <a:srgbClr val="D9D5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7777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StructPilot v6.0 · 冷冻电镜数据处理智能陪跑助手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589520" y="47777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17 / 18</a:t>
            </a:r>
            <a:endParaRPr lang="en-US" sz="800" dirty="0"/>
          </a:p>
        </p:txBody>
      </p:sp>
      <p:grpSp>
        <p:nvGrpSpPr>
          <p:cNvPr id="30" name="组合 29"/>
          <p:cNvGrpSpPr/>
          <p:nvPr/>
        </p:nvGrpSpPr>
        <p:grpSpPr>
          <a:xfrm>
            <a:off x="598805" y="4572000"/>
            <a:ext cx="6035040" cy="457200"/>
            <a:chOff x="2448" y="7128"/>
            <a:chExt cx="9504" cy="720"/>
          </a:xfrm>
        </p:grpSpPr>
        <p:sp>
          <p:nvSpPr>
            <p:cNvPr id="25" name="Shape 23"/>
            <p:cNvSpPr/>
            <p:nvPr/>
          </p:nvSpPr>
          <p:spPr>
            <a:xfrm>
              <a:off x="2448" y="7128"/>
              <a:ext cx="9504" cy="720"/>
            </a:xfrm>
            <a:prstGeom prst="rect">
              <a:avLst/>
            </a:prstGeom>
            <a:solidFill>
              <a:srgbClr val="5A151A"/>
            </a:solidFill>
            <a:ln w="12700">
              <a:solidFill>
                <a:srgbClr val="5A151A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2448" y="7128"/>
              <a:ext cx="9504" cy="720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kern="0" spc="100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34" charset="-120"/>
                </a:rPr>
                <a:t>StructPilot — 让冷冻电镜数据处理不再依赖"老师傅"</a:t>
              </a:r>
              <a:endParaRPr lang="en-US" sz="13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27432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5116068"/>
            <a:ext cx="9034272" cy="27432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46304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800" dirty="0">
                <a:solidFill>
                  <a:srgbClr val="7A1D2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感谢聆听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657600" y="2423160"/>
            <a:ext cx="1828800" cy="18288"/>
          </a:xfrm>
          <a:prstGeom prst="rect">
            <a:avLst/>
          </a:prstGeom>
          <a:solidFill>
            <a:srgbClr val="7A1D24"/>
          </a:solidFill>
          <a:ln w="12700">
            <a:solidFill>
              <a:srgbClr val="7A1D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260604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StructPilot v6.0  ·  冷冻电镜数据处理智能陪跑助手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31089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上海科技大学  iHuman 研究所</a:t>
            </a:r>
            <a:endParaRPr lang="en-US" sz="1200" dirty="0"/>
          </a:p>
        </p:txBody>
      </p:sp>
      <p:pic>
        <p:nvPicPr>
          <p:cNvPr id="9" name="Image 0" descr="D:\sh-tech\2026-03-01\windsurf_task1_cryoFIB_liftout_auto\final_struct\assets\logo_ihuman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3200400" y="3657600"/>
            <a:ext cx="1080000" cy="360000"/>
          </a:xfrm>
          <a:prstGeom prst="rect">
            <a:avLst/>
          </a:prstGeom>
        </p:spPr>
      </p:pic>
      <p:pic>
        <p:nvPicPr>
          <p:cNvPr id="10" name="Image 1" descr="D:\sh-tech\2026-03-01\windsurf_task1_cryoFIB_liftout_auto\final_struct\assets\logo_shanghaitech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5394960" y="3657600"/>
            <a:ext cx="1080000" cy="360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0" y="438912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2026 年 7 月  ·  决赛答辩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4585</Words>
  <Application>WPS 演示</Application>
  <PresentationFormat>On-screen Show (16:9)</PresentationFormat>
  <Paragraphs>724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宋体</vt:lpstr>
      <vt:lpstr>Wingdings</vt:lpstr>
      <vt:lpstr>Georgia</vt:lpstr>
      <vt:lpstr>Georgia</vt:lpstr>
      <vt:lpstr>Georgia</vt:lpstr>
      <vt:lpstr>宋体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StructPilot v6.0 决赛答辩</dc:title>
  <dc:creator>上海科技大学 iHuman 研究所</dc:creator>
  <dc:subject>PptxGenJS Presentation</dc:subject>
  <cp:lastModifiedBy>龙零</cp:lastModifiedBy>
  <cp:revision>2</cp:revision>
  <dcterms:created xsi:type="dcterms:W3CDTF">2026-07-23T09:28:00Z</dcterms:created>
  <dcterms:modified xsi:type="dcterms:W3CDTF">2026-07-23T09:36:00Z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33C917031F3046738C51E4227E753899_12</vt:lpwstr>
  </property>
</Properties>
</file>